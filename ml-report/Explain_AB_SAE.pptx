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Economica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Economica-bold.fntdata"/><Relationship Id="rId21" Type="http://schemas.openxmlformats.org/officeDocument/2006/relationships/font" Target="fonts/Economica-regular.fntdata"/><Relationship Id="rId24" Type="http://schemas.openxmlformats.org/officeDocument/2006/relationships/font" Target="fonts/Economica-boldItalic.fntdata"/><Relationship Id="rId23" Type="http://schemas.openxmlformats.org/officeDocument/2006/relationships/font" Target="fonts/Economic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550882f6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550882f6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550882f68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550882f68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550882f68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550882f68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550882f68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550882f68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550882f68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550882f68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550882f68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550882f68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550882f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550882f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550882f68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550882f68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550882f68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550882f68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550882f68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550882f68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550882f68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550882f68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550882f68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550882f68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550882f68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550882f68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550882f68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550882f68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550882f68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550882f68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sl" sz="3400"/>
              <a:t>Explaining Headline A/B Test Outcomes with Sparse</a:t>
            </a:r>
            <a:endParaRPr sz="3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sl" sz="3400"/>
              <a:t>Autoencoder Features</a:t>
            </a:r>
            <a:endParaRPr sz="3400"/>
          </a:p>
        </p:txBody>
      </p:sp>
      <p:sp>
        <p:nvSpPr>
          <p:cNvPr id="63" name="Google Shape;63;p13"/>
          <p:cNvSpPr txBox="1"/>
          <p:nvPr>
            <p:ph idx="4294967295" type="subTitle"/>
          </p:nvPr>
        </p:nvSpPr>
        <p:spPr>
          <a:xfrm>
            <a:off x="3044700" y="3248917"/>
            <a:ext cx="3054600" cy="4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sl"/>
              <a:t>Drejc Pesjak</a:t>
            </a:r>
            <a:endParaRPr/>
          </a:p>
        </p:txBody>
      </p:sp>
      <p:pic>
        <p:nvPicPr>
          <p:cNvPr id="64" name="Google Shape;64;p13" title="mps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8775" y="3925600"/>
            <a:ext cx="2579269" cy="76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3400"/>
              <a:t>Upworthy research archive</a:t>
            </a:r>
            <a:endParaRPr sz="3400"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l" sz="1600"/>
              <a:t>57k headlines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sl" sz="1600"/>
              <a:t>13k A/B tests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sl" sz="1600"/>
              <a:t>(average: 4.38)</a:t>
            </a:r>
            <a:endParaRPr sz="1600"/>
          </a:p>
        </p:txBody>
      </p:sp>
      <p:pic>
        <p:nvPicPr>
          <p:cNvPr id="71" name="Google Shape;71;p14" title="ChatGPT Image Feb 25, 2026, 03_13_14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5151" y="1147225"/>
            <a:ext cx="5148023" cy="3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3400"/>
              <a:t>Interpretable contextual embeddings</a:t>
            </a:r>
            <a:endParaRPr sz="3400"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0076" y="1225229"/>
            <a:ext cx="6003850" cy="299604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225225"/>
            <a:ext cx="8520600" cy="33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sl" sz="1300"/>
              <a:t>Gemma 3 - 22nd layer , GemmaScope 2, 16k features , Neuronpedia AutoInterp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3400"/>
              <a:t>Dataset construction</a:t>
            </a:r>
            <a:endParaRPr sz="3400"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6" title="imga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162" y="1225225"/>
            <a:ext cx="6973676" cy="326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3400"/>
              <a:t>Dataset construction</a:t>
            </a:r>
            <a:endParaRPr sz="3400"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3">
            <a:alphaModFix/>
          </a:blip>
          <a:srcRect b="0" l="576" r="0" t="0"/>
          <a:stretch/>
        </p:blipFill>
        <p:spPr>
          <a:xfrm>
            <a:off x="360600" y="1225225"/>
            <a:ext cx="8471702" cy="299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3400"/>
              <a:t>Interpretable machine learning</a:t>
            </a:r>
            <a:endParaRPr sz="3400"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/>
              <a:t>Logistic regression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l"/>
              <a:t>Decision tree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l"/>
              <a:t>XGBoost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sl"/>
              <a:t>Decision rules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3400"/>
              <a:t>Hierarchy hypothesis</a:t>
            </a:r>
            <a:endParaRPr sz="3400"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9" title="ChatGPT Image Feb 25, 2026, 12_55_09 PM.png"/>
          <p:cNvPicPr preferRelativeResize="0"/>
          <p:nvPr/>
        </p:nvPicPr>
        <p:blipFill rotWithShape="1">
          <a:blip r:embed="rId3">
            <a:alphaModFix/>
          </a:blip>
          <a:srcRect b="0" l="0" r="0" t="14354"/>
          <a:stretch/>
        </p:blipFill>
        <p:spPr>
          <a:xfrm>
            <a:off x="2135050" y="1225225"/>
            <a:ext cx="4873901" cy="278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3400"/>
              <a:t>Hierarchical hypothesis</a:t>
            </a:r>
            <a:endParaRPr sz="3400"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0" title="context_clusters_3methods_fixed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300" y="1225225"/>
            <a:ext cx="3959395" cy="335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3400"/>
              <a:t>Results</a:t>
            </a:r>
            <a:endParaRPr sz="3400"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3950" y="1373950"/>
            <a:ext cx="5476101" cy="305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3400"/>
              <a:t>Final pipeline</a:t>
            </a:r>
            <a:endParaRPr sz="3400"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2" title="ChatGPT Image Feb 25, 2026, 04_00_57 PM.png"/>
          <p:cNvPicPr preferRelativeResize="0"/>
          <p:nvPr/>
        </p:nvPicPr>
        <p:blipFill rotWithShape="1">
          <a:blip r:embed="rId3">
            <a:alphaModFix/>
          </a:blip>
          <a:srcRect b="31085" l="0" r="0" t="27115"/>
          <a:stretch/>
        </p:blipFill>
        <p:spPr>
          <a:xfrm>
            <a:off x="714375" y="1827263"/>
            <a:ext cx="7715251" cy="214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3400"/>
              <a:t>Results</a:t>
            </a:r>
            <a:endParaRPr sz="3400"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Δf2220    ‘this’                            +0.1378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Δf11052   How to write clickbait titles     +0.1078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Δf1730    remarkable and amazing qualities  +0.1130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Δf433     problem, issue                    +0.1020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Δf9410    subtitles                         -0.1153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Δf1531    discovery and revelation          +0.1168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Δf2223    past actions or events            +0.1093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Δf1847    shocking or horrifying scenarios  +0.1008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Δf604     harmful unethical behavior        +0.0793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Δf1170    quizzes and puzzles               +0.0916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Δf2203    stereotypes about gender roles    +0.0934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Δf11979  </a:t>
            </a: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sexual and explicit themes        +0.1482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Δf5439    offensive content                 +0.0907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Δf70                                        -0.0742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Δf2161    female names and women            +0.1025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3" name="Google Shape;133;p23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clickbait titles &gt; 0.5                          +0.07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unexpected things &gt; 0.5                         +0.06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intense negative emotions ≤ -0.5                -0.05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recognizing or noticing ≤ -0.5                  -0.14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joke, humor &gt; -0.5 AND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‘thing’ ≤ 0.5 AND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ctx: asking questions &gt; 0.5                     +0.03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regulation, risk &gt; 0.5 AND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l" sz="900">
                <a:latin typeface="Roboto Mono"/>
                <a:ea typeface="Roboto Mono"/>
                <a:cs typeface="Roboto Mono"/>
                <a:sym typeface="Roboto Mono"/>
              </a:rPr>
              <a:t>past events &gt; -0.5                              -0.04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3400"/>
              <a:t>Results</a:t>
            </a:r>
            <a:endParaRPr sz="3400"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l" sz="900">
                <a:latin typeface="Arial"/>
                <a:ea typeface="Arial"/>
                <a:cs typeface="Arial"/>
                <a:sym typeface="Arial"/>
              </a:rPr>
              <a:t>Δf2220 “this”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I Thought I Had </a:t>
            </a:r>
            <a:r>
              <a:rPr lang="sl" sz="900">
                <a:highlight>
                  <a:srgbClr val="D6D6DD"/>
                </a:highlight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lang="sl" sz="900">
                <a:latin typeface="Arial"/>
                <a:ea typeface="Arial"/>
                <a:cs typeface="Arial"/>
                <a:sym typeface="Arial"/>
              </a:rPr>
              <a:t> PSA Figured Out. Turns Out I Was Wrong. Big Time.</a:t>
            </a:r>
            <a:br>
              <a:rPr lang="sl" sz="900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I Called Grandma After I Saw The Ending. You Probably Will, Too.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I Thought I Had </a:t>
            </a:r>
            <a:r>
              <a:rPr lang="sl" sz="900">
                <a:highlight>
                  <a:srgbClr val="D6D6DD"/>
                </a:highlight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lang="sl" sz="900">
                <a:latin typeface="Arial"/>
                <a:ea typeface="Arial"/>
                <a:cs typeface="Arial"/>
                <a:sym typeface="Arial"/>
              </a:rPr>
              <a:t> PSA Figured Out. Turns Out I Was Wrong. Big Time.</a:t>
            </a:r>
            <a:br>
              <a:rPr lang="sl" sz="900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An Eye-Opening Look Inside His Christmas Day Sheds Light On An Issue Too Many Of Us Ignore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You Probably Didn’t Learn </a:t>
            </a:r>
            <a:r>
              <a:rPr lang="sl" sz="900">
                <a:highlight>
                  <a:srgbClr val="D6D6DD"/>
                </a:highlight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lang="sl" sz="900">
                <a:latin typeface="Arial"/>
                <a:ea typeface="Arial"/>
                <a:cs typeface="Arial"/>
                <a:sym typeface="Arial"/>
              </a:rPr>
              <a:t> Sex History In School — But Holy Hot Peppers! Maybe You Should’ve.</a:t>
            </a:r>
            <a:br>
              <a:rPr lang="sl" sz="900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The History Of Sex Is Interesting And Awkward — And You Should’ve Learned It.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sl" sz="900">
                <a:latin typeface="Arial"/>
                <a:ea typeface="Arial"/>
                <a:cs typeface="Arial"/>
                <a:sym typeface="Arial"/>
              </a:rPr>
              <a:t>Δf11052 “How to write clickbait titles”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The Secret About Work Life In 20 Other Countries That Will Surprise You</a:t>
            </a:r>
            <a:br>
              <a:rPr lang="sl" sz="900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In Japan, They Have A Word For Working Yourself To Death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The Secret About Work Life In 20 Other Countries That Will Surprise You</a:t>
            </a:r>
            <a:br>
              <a:rPr lang="sl" sz="900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The Next Time You Hear Someone Say That Americans Are Lazy, Show Them This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When Everything Was Going Wrong For These Teens, A Kind Intervention Saved The Day</a:t>
            </a:r>
            <a:br>
              <a:rPr lang="sl" sz="900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A Kid’s Feelings Are Always Important, Especially When They’re Not Heard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sl" sz="900">
                <a:latin typeface="Arial"/>
                <a:ea typeface="Arial"/>
                <a:cs typeface="Arial"/>
                <a:sym typeface="Arial"/>
              </a:rPr>
              <a:t>Δf1730 “remarkable and amazing qualities”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Paul Walker's Unfinished </a:t>
            </a:r>
            <a:r>
              <a:rPr lang="sl" sz="900">
                <a:highlight>
                  <a:srgbClr val="D6D6DD"/>
                </a:highlight>
                <a:latin typeface="Arial"/>
                <a:ea typeface="Arial"/>
                <a:cs typeface="Arial"/>
                <a:sym typeface="Arial"/>
              </a:rPr>
              <a:t>Masterpiece</a:t>
            </a:r>
            <a:r>
              <a:rPr lang="sl" sz="900">
                <a:latin typeface="Arial"/>
                <a:ea typeface="Arial"/>
                <a:cs typeface="Arial"/>
                <a:sym typeface="Arial"/>
              </a:rPr>
              <a:t> Revealed. It's Not A Movie, It's Just Astonishingly Terrific.</a:t>
            </a:r>
            <a:br>
              <a:rPr lang="sl" sz="900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How Come Paparazzis Never Manage To Catch Celebs Engaged In This Type Of Behavior?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Photos Of An </a:t>
            </a:r>
            <a:r>
              <a:rPr lang="sl" sz="900">
                <a:highlight>
                  <a:srgbClr val="D6D6DD"/>
                </a:highlight>
                <a:latin typeface="Arial"/>
                <a:ea typeface="Arial"/>
                <a:cs typeface="Arial"/>
                <a:sym typeface="Arial"/>
              </a:rPr>
              <a:t>Astonishingly Beautiful</a:t>
            </a:r>
            <a:r>
              <a:rPr lang="sl" sz="900">
                <a:latin typeface="Arial"/>
                <a:ea typeface="Arial"/>
                <a:cs typeface="Arial"/>
                <a:sym typeface="Arial"/>
              </a:rPr>
              <a:t> Place That's Losing So Much Of What Makes It Beautiful</a:t>
            </a:r>
            <a:br>
              <a:rPr lang="sl" sz="900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Photos Of Fading Beauty And The Story Of What's Taking It Away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Photos Of </a:t>
            </a:r>
            <a:r>
              <a:rPr lang="sl" sz="900">
                <a:highlight>
                  <a:srgbClr val="D6D6DD"/>
                </a:highlight>
                <a:latin typeface="Arial"/>
                <a:ea typeface="Arial"/>
                <a:cs typeface="Arial"/>
                <a:sym typeface="Arial"/>
              </a:rPr>
              <a:t>Astonishingly Beautiful</a:t>
            </a:r>
            <a:r>
              <a:rPr lang="sl" sz="900">
                <a:latin typeface="Arial"/>
                <a:ea typeface="Arial"/>
                <a:cs typeface="Arial"/>
                <a:sym typeface="Arial"/>
              </a:rPr>
              <a:t> People Who Are Losing So Much Of What Makes Them Beautiful</a:t>
            </a:r>
            <a:br>
              <a:rPr lang="sl" sz="900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Photos Of Fading Beauty And The Story Of What's Taking It Away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3400"/>
              <a:t>Results</a:t>
            </a:r>
            <a:endParaRPr sz="3400"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sl" sz="900">
                <a:latin typeface="Arial"/>
                <a:ea typeface="Arial"/>
                <a:cs typeface="Arial"/>
                <a:sym typeface="Arial"/>
              </a:rPr>
              <a:t>Δf433 “problem, issue”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There’s One Huge </a:t>
            </a:r>
            <a:r>
              <a:rPr lang="sl" sz="900">
                <a:highlight>
                  <a:srgbClr val="D6D6DD"/>
                </a:highlight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sl" sz="900">
                <a:latin typeface="Arial"/>
                <a:ea typeface="Arial"/>
                <a:cs typeface="Arial"/>
                <a:sym typeface="Arial"/>
              </a:rPr>
              <a:t> In Google And Facebook’s Back Yard</a:t>
            </a:r>
            <a:br>
              <a:rPr lang="sl" sz="900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You’ll Be Shocked At What Exists In One Of The Richest Areas In The World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There’s One Huge </a:t>
            </a:r>
            <a:r>
              <a:rPr lang="sl" sz="900">
                <a:highlight>
                  <a:srgbClr val="D6D6DD"/>
                </a:highlight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sl" sz="900">
                <a:latin typeface="Arial"/>
                <a:ea typeface="Arial"/>
                <a:cs typeface="Arial"/>
                <a:sym typeface="Arial"/>
              </a:rPr>
              <a:t> In Google And Facebook’s Backyard</a:t>
            </a:r>
            <a:br>
              <a:rPr lang="sl" sz="900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You’ll Be Shocked At What Exists In One Of The Richest Areas In The World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Wonder Woman, Spider-Man, Captain America. All These Heroes Are Awesome. There's Just One </a:t>
            </a:r>
            <a:r>
              <a:rPr lang="sl" sz="900">
                <a:highlight>
                  <a:srgbClr val="D6D6DD"/>
                </a:highlight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sl" sz="9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sl" sz="900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Most Of Us Are Able To Find Comic Book Heroes That Look Like Us. How About The People Who Don't?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sl" sz="900">
                <a:latin typeface="Arial"/>
                <a:ea typeface="Arial"/>
                <a:cs typeface="Arial"/>
                <a:sym typeface="Arial"/>
              </a:rPr>
              <a:t>Δf9410 “subtitles”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Where Have You Gone, FDR? </a:t>
            </a:r>
            <a:r>
              <a:rPr lang="sl" sz="900" u="sng">
                <a:latin typeface="Arial"/>
                <a:ea typeface="Arial"/>
                <a:cs typeface="Arial"/>
                <a:sym typeface="Arial"/>
              </a:rPr>
              <a:t>A Nation Turns Its Broke-Ass Eyes To You.</a:t>
            </a:r>
            <a:br>
              <a:rPr lang="sl" sz="900" u="sng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The Stock Market Is Up, And I'd Prefer Not To Cheer...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When The Price Is Wrong…So Wrong: </a:t>
            </a:r>
            <a:r>
              <a:rPr lang="sl" sz="900" u="sng">
                <a:latin typeface="Arial"/>
                <a:ea typeface="Arial"/>
                <a:cs typeface="Arial"/>
                <a:sym typeface="Arial"/>
              </a:rPr>
              <a:t>America’s Hospitals Get Wealthy This Way.</a:t>
            </a:r>
            <a:br>
              <a:rPr lang="sl" sz="900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One Minute Of How Bad Our Healthcare System Really Is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Get Used To Me: Black. Confident. </a:t>
            </a:r>
            <a:r>
              <a:rPr lang="sl" sz="900" u="sng">
                <a:latin typeface="Arial"/>
                <a:ea typeface="Arial"/>
                <a:cs typeface="Arial"/>
                <a:sym typeface="Arial"/>
              </a:rPr>
              <a:t>Cocky.</a:t>
            </a:r>
            <a:br>
              <a:rPr lang="sl" sz="900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These Kids Were Asked To Act Like A Famous Idol, And They Knocked It Out Of The Park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sl" sz="900">
                <a:latin typeface="Arial"/>
                <a:ea typeface="Arial"/>
                <a:cs typeface="Arial"/>
                <a:sym typeface="Arial"/>
              </a:rPr>
              <a:t>Δf1531 “discovery and revelation”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On our first date, he deeply insulted me. I didn't </a:t>
            </a:r>
            <a:r>
              <a:rPr lang="sl" sz="900">
                <a:highlight>
                  <a:srgbClr val="D6D6DD"/>
                </a:highlight>
                <a:latin typeface="Arial"/>
                <a:ea typeface="Arial"/>
                <a:cs typeface="Arial"/>
                <a:sym typeface="Arial"/>
              </a:rPr>
              <a:t>realize</a:t>
            </a:r>
            <a:r>
              <a:rPr lang="sl" sz="900">
                <a:latin typeface="Arial"/>
                <a:ea typeface="Arial"/>
                <a:cs typeface="Arial"/>
                <a:sym typeface="Arial"/>
              </a:rPr>
              <a:t> until years later.</a:t>
            </a:r>
            <a:br>
              <a:rPr lang="sl" sz="900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I'm a black guy who dates outside of my race. Here's a heart-dropping letdown moment I experienced.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A creepy parody commercial for a pet company that made me so angry until I </a:t>
            </a:r>
            <a:r>
              <a:rPr lang="sl" sz="900">
                <a:highlight>
                  <a:srgbClr val="D6D6DD"/>
                </a:highlight>
                <a:latin typeface="Arial"/>
                <a:ea typeface="Arial"/>
                <a:cs typeface="Arial"/>
                <a:sym typeface="Arial"/>
              </a:rPr>
              <a:t>realized</a:t>
            </a:r>
            <a:r>
              <a:rPr lang="sl" sz="900">
                <a:latin typeface="Arial"/>
                <a:ea typeface="Arial"/>
                <a:cs typeface="Arial"/>
                <a:sym typeface="Arial"/>
              </a:rPr>
              <a:t> it was fake.</a:t>
            </a:r>
            <a:br>
              <a:rPr lang="sl" sz="900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A couple gave their son a cute little puppy. So why am I sorta creeped out?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sl" sz="900">
                <a:latin typeface="Arial"/>
                <a:ea typeface="Arial"/>
                <a:cs typeface="Arial"/>
                <a:sym typeface="Arial"/>
              </a:rPr>
              <a:t>A: I Thought This Ad Was Trying To Sell Me Jewelry, And Then I </a:t>
            </a:r>
            <a:r>
              <a:rPr lang="sl" sz="900">
                <a:highlight>
                  <a:srgbClr val="D6D6DD"/>
                </a:highlight>
                <a:latin typeface="Arial"/>
                <a:ea typeface="Arial"/>
                <a:cs typeface="Arial"/>
                <a:sym typeface="Arial"/>
              </a:rPr>
              <a:t>Realized</a:t>
            </a:r>
            <a:r>
              <a:rPr lang="sl" sz="900">
                <a:latin typeface="Arial"/>
                <a:ea typeface="Arial"/>
                <a:cs typeface="Arial"/>
                <a:sym typeface="Arial"/>
              </a:rPr>
              <a:t> It Had A Powerful Message</a:t>
            </a:r>
            <a:br>
              <a:rPr lang="sl" sz="900">
                <a:latin typeface="Arial"/>
                <a:ea typeface="Arial"/>
                <a:cs typeface="Arial"/>
                <a:sym typeface="Arial"/>
              </a:rPr>
            </a:br>
            <a:r>
              <a:rPr lang="sl" sz="900">
                <a:latin typeface="Arial"/>
                <a:ea typeface="Arial"/>
                <a:cs typeface="Arial"/>
                <a:sym typeface="Arial"/>
              </a:rPr>
              <a:t>B: Marriage Gets A Shiny Reboot In This Fantastic Ad From India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3400"/>
              <a:t>Conclusion / Limitations</a:t>
            </a:r>
            <a:endParaRPr sz="3400"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sl" sz="1500"/>
              <a:t>long pipeline - accumulating error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sl" sz="1500"/>
              <a:t>correlation vs causation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sl" sz="1500"/>
              <a:t>crude clustering</a:t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23962" y="1449325"/>
            <a:ext cx="953700" cy="203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sl" sz="2300"/>
              <a:t>Thank</a:t>
            </a:r>
            <a:endParaRPr sz="23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sl" sz="2300"/>
              <a:t>you</a:t>
            </a:r>
            <a:endParaRPr sz="23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sl" sz="2300"/>
              <a:t>for</a:t>
            </a:r>
            <a:endParaRPr sz="23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sl" sz="2300"/>
              <a:t>your </a:t>
            </a:r>
            <a:endParaRPr sz="2300"/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2688" y="1544877"/>
            <a:ext cx="1857350" cy="214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